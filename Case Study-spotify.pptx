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7" r:id="rId5"/>
    <p:sldId id="274" r:id="rId6"/>
    <p:sldId id="259" r:id="rId7"/>
    <p:sldId id="273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60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7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F5A84-0404-48DD-B85C-DE3EEB1FF4C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F2D1C-3C1A-43AA-B86B-3CD8587D0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45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0F2D1C-3C1A-43AA-B86B-3CD8587D0E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99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810126" y="2606843"/>
            <a:ext cx="7767638" cy="19933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dirty="0">
                <a:latin typeface="Arial Black" panose="020B0A04020102020204" pitchFamily="34" charset="0"/>
              </a:rPr>
              <a:t>       Spotify</a:t>
            </a:r>
            <a:br>
              <a:rPr lang="en-US" sz="9600" dirty="0">
                <a:latin typeface="Arial Black" panose="020B0A04020102020204" pitchFamily="34" charset="0"/>
              </a:rPr>
            </a:br>
            <a:r>
              <a:rPr lang="en-US" sz="9600" dirty="0">
                <a:latin typeface="Arial Black" panose="020B0A04020102020204" pitchFamily="34" charset="0"/>
              </a:rPr>
              <a:t> </a:t>
            </a:r>
            <a:r>
              <a:rPr lang="en-US" sz="9600" dirty="0"/>
              <a:t>     </a:t>
            </a:r>
          </a:p>
        </p:txBody>
      </p:sp>
      <p:sp>
        <p:nvSpPr>
          <p:cNvPr id="5" name="AutoShape 2" descr="blob:https://web.whatsapp.com/9393caa3-1483-46ca-a86c-08bbc0369a80"/>
          <p:cNvSpPr>
            <a:spLocks noChangeAspect="1" noChangeArrowheads="1"/>
          </p:cNvSpPr>
          <p:nvPr/>
        </p:nvSpPr>
        <p:spPr bwMode="auto">
          <a:xfrm>
            <a:off x="1181379" y="29661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blob:https://web.whatsapp.com/9393caa3-1483-46ca-a86c-08bbc0369a80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 descr="Spotify Logo Png - Free Transparent PNG Log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35" y="2486526"/>
            <a:ext cx="1773772" cy="177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211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27221" y="2229852"/>
            <a:ext cx="717884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92D050"/>
                </a:solidFill>
                <a:latin typeface="Centaur" panose="02030504050205020304" pitchFamily="18" charset="0"/>
              </a:rPr>
              <a:t>Data Analysis</a:t>
            </a:r>
          </a:p>
          <a:p>
            <a:pPr algn="ctr"/>
            <a:r>
              <a:rPr lang="en-US" sz="4800" b="1" dirty="0">
                <a:solidFill>
                  <a:srgbClr val="92D050"/>
                </a:solidFill>
                <a:latin typeface="Centaur" panose="02030504050205020304" pitchFamily="18" charset="0"/>
              </a:rPr>
              <a:t>                            </a:t>
            </a:r>
            <a:r>
              <a:rPr lang="en-US" sz="3600" b="1" dirty="0">
                <a:solidFill>
                  <a:srgbClr val="92D050"/>
                </a:solidFill>
                <a:latin typeface="Centaur" panose="02030504050205020304" pitchFamily="18" charset="0"/>
              </a:rPr>
              <a:t>- Sanika Sapkal</a:t>
            </a:r>
          </a:p>
        </p:txBody>
      </p:sp>
    </p:spTree>
    <p:extLst>
      <p:ext uri="{BB962C8B-B14F-4D97-AF65-F5344CB8AC3E}">
        <p14:creationId xmlns:p14="http://schemas.microsoft.com/office/powerpoint/2010/main" val="2638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8568" y="545432"/>
            <a:ext cx="8013032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  <a:latin typeface="Book Antiqua" panose="02040602050305030304" pitchFamily="18" charset="0"/>
              </a:rPr>
              <a:t>Problem Statement : </a:t>
            </a:r>
            <a:r>
              <a:rPr lang="en-US" dirty="0">
                <a:latin typeface="Book Antiqua" panose="02040602050305030304" pitchFamily="18" charset="0"/>
              </a:rPr>
              <a:t>Spotify generates a large volume of streaming data that reveals insights into user engagement, track preferences, time-based trends, and session patterns.</a:t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latin typeface="Book Antiqua" panose="02040602050305030304" pitchFamily="18" charset="0"/>
              </a:rPr>
              <a:t>This project aims to extract those insights to improve recommendation algorithms, playlist curation, and user retention strategies.</a:t>
            </a: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sz="2400" b="1" dirty="0">
                <a:solidFill>
                  <a:srgbClr val="92D050"/>
                </a:solidFill>
                <a:latin typeface="Book Antiqua" panose="02040602050305030304" pitchFamily="18" charset="0"/>
              </a:rPr>
              <a:t>Objectives : </a:t>
            </a:r>
            <a:r>
              <a:rPr lang="en-US" b="1" dirty="0">
                <a:latin typeface="Book Antiqua" panose="02040602050305030304" pitchFamily="18" charset="0"/>
              </a:rPr>
              <a:t>1.Analyze Listener Preferences </a:t>
            </a:r>
            <a:r>
              <a:rPr lang="en-US" dirty="0">
                <a:latin typeface="Book Antiqua" panose="02040602050305030304" pitchFamily="18" charset="0"/>
              </a:rPr>
              <a:t>- Identify which artists, genres, and tracks are most popular among listeners.</a:t>
            </a:r>
          </a:p>
          <a:p>
            <a:r>
              <a:rPr lang="en-US" b="1" dirty="0">
                <a:latin typeface="Book Antiqua" panose="02040602050305030304" pitchFamily="18" charset="0"/>
              </a:rPr>
              <a:t>2. Track Popularity Trends</a:t>
            </a:r>
            <a:r>
              <a:rPr lang="en-US" dirty="0">
                <a:latin typeface="Book Antiqua" panose="02040602050305030304" pitchFamily="18" charset="0"/>
              </a:rPr>
              <a:t> - Determine which features contribute most to a track’s success.</a:t>
            </a:r>
          </a:p>
          <a:p>
            <a:r>
              <a:rPr lang="en-US" b="1" dirty="0">
                <a:latin typeface="Book Antiqua" panose="02040602050305030304" pitchFamily="18" charset="0"/>
              </a:rPr>
              <a:t>3. Artist Performance Insights</a:t>
            </a:r>
            <a:r>
              <a:rPr lang="en-US" dirty="0">
                <a:latin typeface="Book Antiqua" panose="02040602050305030304" pitchFamily="18" charset="0"/>
              </a:rPr>
              <a:t> - Find top-performing artists by number of tracks, average popularity, and energy.</a:t>
            </a:r>
          </a:p>
          <a:p>
            <a:r>
              <a:rPr lang="en-US" b="1" dirty="0">
                <a:latin typeface="Book Antiqua" panose="02040602050305030304" pitchFamily="18" charset="0"/>
              </a:rPr>
              <a:t>4. Genre and Audio Feature Exploration - </a:t>
            </a:r>
            <a:r>
              <a:rPr lang="en-US" dirty="0">
                <a:latin typeface="Book Antiqua" panose="02040602050305030304" pitchFamily="18" charset="0"/>
              </a:rPr>
              <a:t>Identify genres that consistently produce popular or high-energy tracks.</a:t>
            </a:r>
          </a:p>
          <a:p>
            <a:r>
              <a:rPr lang="en-US" b="1" dirty="0">
                <a:latin typeface="Book Antiqua" panose="02040602050305030304" pitchFamily="18" charset="0"/>
              </a:rPr>
              <a:t>5. Build Listener Personas - </a:t>
            </a:r>
            <a:r>
              <a:rPr lang="en-US" dirty="0">
                <a:latin typeface="Book Antiqua" panose="02040602050305030304" pitchFamily="18" charset="0"/>
              </a:rPr>
              <a:t>Cluster tracks based on features like danceability, valence, and acousticness to understand listener moods or preferences.</a:t>
            </a:r>
          </a:p>
          <a:p>
            <a:r>
              <a:rPr lang="en-US" b="1" dirty="0">
                <a:latin typeface="Book Antiqua" panose="02040602050305030304" pitchFamily="18" charset="0"/>
              </a:rPr>
              <a:t>6. Data-Driven Decision Support - </a:t>
            </a:r>
            <a:r>
              <a:rPr lang="en-US" dirty="0">
                <a:latin typeface="Book Antiqua" panose="02040602050305030304" pitchFamily="18" charset="0"/>
              </a:rPr>
              <a:t>Provide actionable insights for music curators, marketers, or streaming services to promote content better.</a:t>
            </a:r>
          </a:p>
          <a:p>
            <a:endParaRPr lang="en-US" b="1" dirty="0">
              <a:solidFill>
                <a:srgbClr val="92D05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40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20843" y="531766"/>
            <a:ext cx="9031704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Key Features of the Spotify Dataset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Track and Artist Identification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Enables analysis of user preferences with fields like trackName and artistName, useful for identifying top songs and favorite artists.</a:t>
            </a:r>
            <a:endParaRPr lang="en-US" sz="1600" dirty="0">
              <a:latin typeface="Book Antiqua" panose="020406020503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Precise Playback Timing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The endTime column allows time-based analysis—daily trends, weekend vs. weekday patterns, and peak listening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Listening Duration (msPlayed)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Captures how long a song or episode was played. Helps in detecting skips, engagement levels, and partial vs. full listens.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Music vs. Podcast Segmentation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Fields like episodeName and episodeShowName allow differentiation between music and podcast content for targeted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User Behavior Patterns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Tracks repeat listens vs. new discoveries, revealing patterns of loyalty, exploration, and daily listening habits.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785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7620" y="1192541"/>
            <a:ext cx="689810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  <a:latin typeface="Arial Black" panose="020B0A04020102020204" pitchFamily="34" charset="0"/>
              </a:rPr>
              <a:t>Dataset Overview : </a:t>
            </a:r>
          </a:p>
          <a:p>
            <a:endParaRPr lang="en-US" sz="2400" dirty="0">
              <a:solidFill>
                <a:srgbClr val="92D05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This dataset contains 149,860 Spotify track streaming records with fields including:- Track Name, Artist, Album- Playback Duration (ms), Platform, Timestamps- Skip Fla</a:t>
            </a:r>
          </a:p>
        </p:txBody>
      </p:sp>
    </p:spTree>
    <p:extLst>
      <p:ext uri="{BB962C8B-B14F-4D97-AF65-F5344CB8AC3E}">
        <p14:creationId xmlns:p14="http://schemas.microsoft.com/office/powerpoint/2010/main" val="115752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2778" y="2109538"/>
            <a:ext cx="59997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Arial Black" panose="020B0A04020102020204" pitchFamily="34" charset="0"/>
              </a:rPr>
              <a:t>SQL Queries</a:t>
            </a:r>
          </a:p>
        </p:txBody>
      </p:sp>
      <p:sp>
        <p:nvSpPr>
          <p:cNvPr id="3" name="Right Arrow 2"/>
          <p:cNvSpPr/>
          <p:nvPr/>
        </p:nvSpPr>
        <p:spPr>
          <a:xfrm>
            <a:off x="2991853" y="3745832"/>
            <a:ext cx="4612106" cy="8101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01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654" y="428950"/>
            <a:ext cx="589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Q.1 Days when more than 10 songs were listened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48" y="1082570"/>
            <a:ext cx="6601766" cy="21755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72" y="3456068"/>
            <a:ext cx="5808756" cy="30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61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1924" y="696345"/>
            <a:ext cx="6863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Q.2 how does that compare to last year?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23" y="1494183"/>
            <a:ext cx="7925375" cy="20511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36" y="3837451"/>
            <a:ext cx="3948115" cy="263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8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3460" y="660128"/>
            <a:ext cx="534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Q.3 what are the most-played songs overall?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60" y="1373504"/>
            <a:ext cx="5915392" cy="19458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61" y="3590469"/>
            <a:ext cx="5617218" cy="29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37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32" y="1628273"/>
            <a:ext cx="7095684" cy="16394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32" y="3592518"/>
            <a:ext cx="5125452" cy="17598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7032" y="1118839"/>
            <a:ext cx="641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Q.4 which artists are most frequently skipped?</a:t>
            </a:r>
          </a:p>
        </p:txBody>
      </p:sp>
    </p:spTree>
    <p:extLst>
      <p:ext uri="{BB962C8B-B14F-4D97-AF65-F5344CB8AC3E}">
        <p14:creationId xmlns:p14="http://schemas.microsoft.com/office/powerpoint/2010/main" val="823856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1073" y="401054"/>
            <a:ext cx="659330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Q.5 What are the most common times of day or days of the week for music streaming ?</a:t>
            </a:r>
          </a:p>
          <a:p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sz="3200" dirty="0">
                <a:latin typeface="Bahnschrift SemiBold" panose="020B0502040204020203" pitchFamily="34" charset="0"/>
              </a:rPr>
              <a:t>.</a:t>
            </a:r>
            <a:r>
              <a:rPr lang="en-US" dirty="0">
                <a:latin typeface="Bahnschrift SemiBold" panose="020B0502040204020203" pitchFamily="34" charset="0"/>
              </a:rPr>
              <a:t> Most Common Hours for Streaming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26" y="2002612"/>
            <a:ext cx="5639587" cy="9240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052" y="3257048"/>
            <a:ext cx="2361696" cy="304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62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0442" y="577516"/>
            <a:ext cx="639277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.</a:t>
            </a:r>
            <a:r>
              <a:rPr lang="en-US" dirty="0"/>
              <a:t> </a:t>
            </a:r>
            <a:r>
              <a:rPr lang="en-US" b="1" dirty="0">
                <a:latin typeface="Bahnschrift SemiBold" panose="020B0502040204020203" pitchFamily="34" charset="0"/>
              </a:rPr>
              <a:t>Most Common Days of the Week</a:t>
            </a:r>
            <a:endParaRPr lang="en-US" dirty="0">
              <a:latin typeface="Bahnschrift SemiBold" panose="020B0502040204020203" pitchFamily="34" charset="0"/>
            </a:endParaRP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90" y="1353214"/>
            <a:ext cx="6011114" cy="12479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64" y="2884903"/>
            <a:ext cx="292458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6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874" y="417094"/>
            <a:ext cx="6136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Q.6 Which songs were played the most?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74" y="1185472"/>
            <a:ext cx="5526505" cy="1689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4" y="3433035"/>
            <a:ext cx="4079448" cy="213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37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295" y="473242"/>
            <a:ext cx="70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Q.7  What is the most active listening time (hour of day)?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95" y="1209782"/>
            <a:ext cx="5309937" cy="16193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95" y="3262379"/>
            <a:ext cx="2085473" cy="264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22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5853" y="778042"/>
            <a:ext cx="660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Q.8 What are the top 5 artists by total listening time?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53" y="1492543"/>
            <a:ext cx="6564547" cy="16116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53" y="3930446"/>
            <a:ext cx="3505200" cy="151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5432" y="569494"/>
            <a:ext cx="6120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Q.9 What days of the week are most active for listening?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2" y="1336863"/>
            <a:ext cx="8462211" cy="13798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32" y="3114752"/>
            <a:ext cx="2360134" cy="217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68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0863" y="521368"/>
            <a:ext cx="57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Q.10 Songs played on a specific date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63" y="1518894"/>
            <a:ext cx="4420217" cy="13336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64" y="3743694"/>
            <a:ext cx="5438274" cy="224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30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8" y="1227600"/>
            <a:ext cx="5658320" cy="14865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8" y="3285377"/>
            <a:ext cx="5310205" cy="285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1684" y="387968"/>
            <a:ext cx="526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Q.11 Tracks played more than 5 times</a:t>
            </a:r>
          </a:p>
        </p:txBody>
      </p:sp>
    </p:spTree>
    <p:extLst>
      <p:ext uri="{BB962C8B-B14F-4D97-AF65-F5344CB8AC3E}">
        <p14:creationId xmlns:p14="http://schemas.microsoft.com/office/powerpoint/2010/main" val="120826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4453" y="401047"/>
            <a:ext cx="6448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Q.12 </a:t>
            </a:r>
            <a:r>
              <a:rPr lang="en-US" dirty="0">
                <a:latin typeface="Bahnschrift SemiBold" panose="020B0502040204020203" pitchFamily="34" charset="0"/>
              </a:rPr>
              <a:t>which artists were most listened to this year?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53" y="1016958"/>
            <a:ext cx="5595035" cy="21754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53" y="3438939"/>
            <a:ext cx="315321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35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8497" y="2395330"/>
            <a:ext cx="8169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“Thank You..</a:t>
            </a:r>
          </a:p>
        </p:txBody>
      </p:sp>
    </p:spTree>
    <p:extLst>
      <p:ext uri="{BB962C8B-B14F-4D97-AF65-F5344CB8AC3E}">
        <p14:creationId xmlns:p14="http://schemas.microsoft.com/office/powerpoint/2010/main" val="31578237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865</TotalTime>
  <Words>517</Words>
  <Application>Microsoft Office PowerPoint</Application>
  <PresentationFormat>Widescreen</PresentationFormat>
  <Paragraphs>40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Bahnschrift SemiBold</vt:lpstr>
      <vt:lpstr>Book Antiqua</vt:lpstr>
      <vt:lpstr>Calibri</vt:lpstr>
      <vt:lpstr>Centaur</vt:lpstr>
      <vt:lpstr>Trebuchet MS</vt:lpstr>
      <vt:lpstr>Wingdings 3</vt:lpstr>
      <vt:lpstr>Facet</vt:lpstr>
      <vt:lpstr>       Spotify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</dc:title>
  <dc:creator>Admin</dc:creator>
  <cp:lastModifiedBy>Sanika Sapkal</cp:lastModifiedBy>
  <cp:revision>34</cp:revision>
  <dcterms:created xsi:type="dcterms:W3CDTF">2025-07-29T10:07:22Z</dcterms:created>
  <dcterms:modified xsi:type="dcterms:W3CDTF">2025-11-10T13:09:46Z</dcterms:modified>
</cp:coreProperties>
</file>